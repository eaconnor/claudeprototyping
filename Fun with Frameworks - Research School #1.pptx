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  <p:sldMasterId id="214748368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Raleway"/>
      <p:regular r:id="rId23"/>
      <p:bold r:id="rId24"/>
      <p:italic r:id="rId25"/>
      <p:boldItalic r:id="rId26"/>
    </p:embeddedFont>
    <p:embeddedFont>
      <p:font typeface="Proxima Nova"/>
      <p:regular r:id="rId27"/>
      <p:bold r:id="rId28"/>
      <p:italic r:id="rId29"/>
      <p:boldItalic r:id="rId30"/>
    </p:embeddedFont>
    <p:embeddedFont>
      <p:font typeface="Lato"/>
      <p:regular r:id="rId31"/>
      <p:bold r:id="rId32"/>
      <p:italic r:id="rId33"/>
      <p:boldItalic r:id="rId34"/>
    </p:embeddedFont>
    <p:embeddedFont>
      <p:font typeface="Proxima Nova Extrabold"/>
      <p:bold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aleway-bold.fntdata"/><Relationship Id="rId23" Type="http://schemas.openxmlformats.org/officeDocument/2006/relationships/font" Target="fonts/Raleway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26" Type="http://schemas.openxmlformats.org/officeDocument/2006/relationships/font" Target="fonts/Raleway-boldItalic.fntdata"/><Relationship Id="rId25" Type="http://schemas.openxmlformats.org/officeDocument/2006/relationships/font" Target="fonts/Raleway-italic.fntdata"/><Relationship Id="rId28" Type="http://schemas.openxmlformats.org/officeDocument/2006/relationships/font" Target="fonts/ProximaNova-bold.fntdata"/><Relationship Id="rId27" Type="http://schemas.openxmlformats.org/officeDocument/2006/relationships/font" Target="fonts/ProximaNova-regular.fntdata"/><Relationship Id="rId5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29" Type="http://schemas.openxmlformats.org/officeDocument/2006/relationships/font" Target="fonts/ProximaNova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regular.fntdata"/><Relationship Id="rId30" Type="http://schemas.openxmlformats.org/officeDocument/2006/relationships/font" Target="fonts/ProximaNova-boldItalic.fntdata"/><Relationship Id="rId11" Type="http://schemas.openxmlformats.org/officeDocument/2006/relationships/slide" Target="slides/slide5.xml"/><Relationship Id="rId33" Type="http://schemas.openxmlformats.org/officeDocument/2006/relationships/font" Target="fonts/Lato-italic.fntdata"/><Relationship Id="rId10" Type="http://schemas.openxmlformats.org/officeDocument/2006/relationships/slide" Target="slides/slide4.xml"/><Relationship Id="rId32" Type="http://schemas.openxmlformats.org/officeDocument/2006/relationships/font" Target="fonts/Lato-bold.fntdata"/><Relationship Id="rId13" Type="http://schemas.openxmlformats.org/officeDocument/2006/relationships/slide" Target="slides/slide7.xml"/><Relationship Id="rId35" Type="http://schemas.openxmlformats.org/officeDocument/2006/relationships/font" Target="fonts/ProximaNovaExtrabold-bold.fntdata"/><Relationship Id="rId12" Type="http://schemas.openxmlformats.org/officeDocument/2006/relationships/slide" Target="slides/slide6.xml"/><Relationship Id="rId34" Type="http://schemas.openxmlformats.org/officeDocument/2006/relationships/font" Target="fonts/Lato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nngroup.com/articles/interviewing-users/" TargetMode="External"/><Relationship Id="rId3" Type="http://schemas.openxmlformats.org/officeDocument/2006/relationships/hyperlink" Target="https://www.qualtrics.com/experience-management/research/determine-sample-size/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nngroup.com/articles/interviewing-users/" TargetMode="External"/><Relationship Id="rId3" Type="http://schemas.openxmlformats.org/officeDocument/2006/relationships/hyperlink" Target="https://www.qualtrics.com/experience-management/research/determine-sample-size/" TargetMode="Externa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nngroup.com/articles/interviewing-users/" TargetMode="External"/><Relationship Id="rId3" Type="http://schemas.openxmlformats.org/officeDocument/2006/relationships/hyperlink" Target="https://www.qualtrics.com/experience-management/research/determine-sample-size/" TargetMode="Externa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nngroup.com/articles/interviewing-users/" TargetMode="External"/><Relationship Id="rId3" Type="http://schemas.openxmlformats.org/officeDocument/2006/relationships/hyperlink" Target="https://www.qualtrics.com/experience-management/research/determine-sample-size/" TargetMode="Externa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nngroup.com/articles/interviewing-users/" TargetMode="External"/><Relationship Id="rId3" Type="http://schemas.openxmlformats.org/officeDocument/2006/relationships/hyperlink" Target="https://www.qualtrics.com/experience-management/research/determine-sample-size/" TargetMode="Externa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nngroup.com/articles/interviewing-users/" TargetMode="External"/><Relationship Id="rId3" Type="http://schemas.openxmlformats.org/officeDocument/2006/relationships/hyperlink" Target="https://www.qualtrics.com/experience-management/research/determine-sample-size/" TargetMode="Externa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nngroup.com/articles/interviewing-users/" TargetMode="External"/><Relationship Id="rId3" Type="http://schemas.openxmlformats.org/officeDocument/2006/relationships/hyperlink" Target="https://www.qualtrics.com/experience-management/research/determine-sample-size/" TargetMode="Externa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nngroup.com/articles/interviewing-users/" TargetMode="External"/><Relationship Id="rId3" Type="http://schemas.openxmlformats.org/officeDocument/2006/relationships/hyperlink" Target="https://www.qualtrics.com/experience-management/research/determine-sample-size/" TargetMode="Externa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nngroup.com/articles/interviewing-users/" TargetMode="External"/><Relationship Id="rId3" Type="http://schemas.openxmlformats.org/officeDocument/2006/relationships/hyperlink" Target="https://www.qualtrics.com/experience-management/research/determine-sample-size/" TargetMode="Externa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epicpeople.org/article_author/rick-robinson/" TargetMode="Externa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Diane Fossey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Guts --- personas are really the “user” part of a product architecture map. --- When we are good, we map the user needs to the function structure. Always be mapping the user needs to the function structure.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https://www.nngroup.com/articles/interviewing-users/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30% of usability errors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https://www.qualtrics.com/experience-management/research/determine-sample-size/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95% confident, +/-5% confidence level/margin of error  (one variable) 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5dffd53267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g5dffd53267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https://www.nngroup.com/articles/interviewing-users/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30% of usability errors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https://www.qualtrics.com/experience-management/research/determine-sample-size/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95% confident, +/-5% confidence level/margin of error  (one variable) 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5dffd52ffb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5dffd52ffb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https://www.nngroup.com/articles/interviewing-users/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30% of usability errors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https://www.qualtrics.com/experience-management/research/determine-sample-size/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95% confident, +/-5% confidence level/margin of error  (one variable) 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5dffd52ffb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g5dffd52ffb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https://www.nngroup.com/articles/interviewing-users/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30% of usability errors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https://www.qualtrics.com/experience-management/research/determine-sample-size/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95% confident, +/-5% confidence level/margin of error  (one variable) 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5dffd53267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g5dffd53267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https://www.nngroup.com/articles/interviewing-users/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30% of usability errors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https://www.qualtrics.com/experience-management/research/determine-sample-size/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95% confident, +/-5% confidence level/margin of error  (one variable) 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5dffd53267_4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g5dffd53267_4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https://www.nngroup.com/articles/interviewing-users/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30% of usability errors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https://www.qualtrics.com/experience-management/research/determine-sample-size/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95% confident, +/-5% confidence level/margin of error  (one variable) 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5dffd53267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g5dffd53267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https://www.nngroup.com/articles/interviewing-users/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30% of usability errors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https://www.qualtrics.com/experience-management/research/determine-sample-size/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95% confident, +/-5% confidence level/margin of error  (one variable) 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5dffd52ffb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g5dffd52ffb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https://www.nngroup.com/articles/interviewing-users/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30% of usability errors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https://www.qualtrics.com/experience-management/research/determine-sample-size/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95% confident, +/-5% confidence level/margin of error  (one variable) 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5dffd53267_2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g5dffd53267_2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https://www.nngroup.com/articles/interviewing-users/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30% of usability errors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https://www.qualtrics.com/experience-management/research/determine-sample-size/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95% confident, +/-5% confidence level/margin of error  (one variable) 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5es, AEIOU, 5HFs, POEMS frameworks ---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https://www.epicpeople.org/article_author/rick-robinson/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9">
  <p:cSld name="AUTOLAYOUT_26"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20625" y="2240300"/>
            <a:ext cx="5871300" cy="19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b="1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b="1" sz="36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b="1" sz="36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b="1" sz="36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b="1" sz="36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b="1" sz="36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b="1" sz="36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b="1" sz="36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b="1" sz="3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20625" y="4314000"/>
            <a:ext cx="58713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AUTOLAYOUT_27">
    <p:bg>
      <p:bgPr>
        <a:solidFill>
          <a:srgbClr val="FFFFFF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"/>
          <p:cNvSpPr txBox="1"/>
          <p:nvPr>
            <p:ph type="ctrTitle"/>
          </p:nvPr>
        </p:nvSpPr>
        <p:spPr>
          <a:xfrm>
            <a:off x="1837575" y="1251525"/>
            <a:ext cx="5445900" cy="26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b="1" sz="40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b="1" sz="40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b="1" sz="40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b="1" sz="40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b="1" sz="40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b="1" sz="40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b="1" sz="40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b="1" sz="40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b="1" sz="4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5">
  <p:cSld name="AUTOLAYOUT_33">
    <p:bg>
      <p:bgPr>
        <a:solidFill>
          <a:srgbClr val="FFFFFF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39575" y="851900"/>
            <a:ext cx="4756200" cy="3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0">
  <p:cSld name="AUTOLAYOUT_12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5"/>
          <p:cNvSpPr txBox="1"/>
          <p:nvPr>
            <p:ph type="ctrTitle"/>
          </p:nvPr>
        </p:nvSpPr>
        <p:spPr>
          <a:xfrm>
            <a:off x="1837575" y="1251525"/>
            <a:ext cx="5445900" cy="26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b="1" sz="40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b="1" sz="40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b="1" sz="40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b="1" sz="40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b="1" sz="40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b="1" sz="40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b="1" sz="40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b="1" sz="40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b="1" sz="4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0">
  <p:cSld name="AUTOLAYOUT_35"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6"/>
          <p:cNvSpPr txBox="1"/>
          <p:nvPr>
            <p:ph type="ctrTitle"/>
          </p:nvPr>
        </p:nvSpPr>
        <p:spPr>
          <a:xfrm>
            <a:off x="1866900" y="1981200"/>
            <a:ext cx="53625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2">
  <p:cSld name="AUTOLAYOUT_37">
    <p:bg>
      <p:bgPr>
        <a:solidFill>
          <a:srgbClr val="FFFFF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7"/>
          <p:cNvSpPr txBox="1"/>
          <p:nvPr>
            <p:ph type="ctrTitle"/>
          </p:nvPr>
        </p:nvSpPr>
        <p:spPr>
          <a:xfrm>
            <a:off x="1866900" y="1981200"/>
            <a:ext cx="53625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6" name="Google Shape;36;p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" name="Google Shape;48;p1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1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1" name="Google Shape;71;p1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Google Shape;80;p2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" name="Google Shape;81;p20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3" name="Google Shape;83;p2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" name="Google Shape;85;p21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21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p2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Google Shape;89;p2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" name="Google Shape;90;p2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" name="Google Shape;91;p2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2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2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2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6" name="Google Shape;96;p2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" name="Google Shape;97;p2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p2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2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1" name="Google Shape;101;p2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" name="Google Shape;103;p2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2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5" name="Google Shape;105;p2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6" name="Google Shape;106;p2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" name="Google Shape;108;p2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" name="Google Shape;109;p2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" name="Google Shape;110;p2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p2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2" name="Google Shape;112;p2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3" name="Google Shape;113;p2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4" name="Google Shape;114;p2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7" name="Google Shape;117;p2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0" name="Google Shape;120;p27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p27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27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3" name="Google Shape;123;p2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4" name="Google Shape;124;p2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6" name="Google Shape;126;p28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2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28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29" name="Google Shape;129;p2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1" name="Google Shape;131;p29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29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" name="Google Shape;133;p29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134" name="Google Shape;134;p29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5" name="Google Shape;135;p2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" name="Google Shape;143;p3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4" name="Google Shape;144;p3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" name="Google Shape;145;p3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32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7" name="Google Shape;147;p32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8" name="Google Shape;148;p3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0" name="Google Shape;150;p33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" name="Google Shape;151;p33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" name="Google Shape;152;p33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p3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4" name="Google Shape;154;p3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5" name="Google Shape;155;p3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7" name="Google Shape;157;p34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" name="Google Shape;158;p34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" name="Google Shape;159;p34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0" name="Google Shape;160;p3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2" name="Google Shape;162;p3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3" name="Google Shape;163;p3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4" name="Google Shape;164;p3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p3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6" name="Google Shape;166;p3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7" name="Google Shape;167;p3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8" name="Google Shape;168;p3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1" name="Google Shape;171;p3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3" name="Google Shape;173;p3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p3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5" name="Google Shape;175;p3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6" name="Google Shape;176;p3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8" name="Google Shape;178;p3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3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0" name="Google Shape;180;p3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" name="Google Shape;183;p3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4" name="Google Shape;184;p3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5" name="Google Shape;185;p3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6" name="Google Shape;186;p3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7" name="Google Shape;187;p3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4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0" name="Google Shape;190;p4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4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92" name="Google Shape;192;p4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4" name="Google Shape;194;p4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5" name="Google Shape;195;p4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" name="Google Shape;196;p4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197" name="Google Shape;197;p4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8" name="Google Shape;198;p4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7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8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7" name="Google Shape;77;p19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b="0" i="0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78" name="Google Shape;78;p1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40" name="Google Shape;140;p3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b="0" i="0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41" name="Google Shape;141;p3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3"/>
          <p:cNvSpPr txBox="1"/>
          <p:nvPr>
            <p:ph type="ctrTitle"/>
          </p:nvPr>
        </p:nvSpPr>
        <p:spPr>
          <a:xfrm>
            <a:off x="320625" y="2240300"/>
            <a:ext cx="5871300" cy="19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0" lang="en">
                <a:solidFill>
                  <a:schemeClr val="lt1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Fun with Frameworks</a:t>
            </a:r>
            <a:endParaRPr b="0">
              <a:solidFill>
                <a:schemeClr val="lt1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206" name="Google Shape;206;p43"/>
          <p:cNvSpPr txBox="1"/>
          <p:nvPr>
            <p:ph idx="1" type="subTitle"/>
          </p:nvPr>
        </p:nvSpPr>
        <p:spPr>
          <a:xfrm>
            <a:off x="384000" y="4356225"/>
            <a:ext cx="58713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Beth Schwindt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BC Research School #1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4"/>
          <p:cNvSpPr txBox="1"/>
          <p:nvPr>
            <p:ph type="ctrTitle"/>
          </p:nvPr>
        </p:nvSpPr>
        <p:spPr>
          <a:xfrm>
            <a:off x="1837575" y="1251525"/>
            <a:ext cx="5445900" cy="26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Witty Slide/Intro</a:t>
            </a:r>
            <a:endParaRPr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Image result for flair pen" id="212" name="Google Shape;21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536193" y="0"/>
            <a:ext cx="1273221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5"/>
          <p:cNvSpPr txBox="1"/>
          <p:nvPr>
            <p:ph type="title"/>
          </p:nvPr>
        </p:nvSpPr>
        <p:spPr>
          <a:xfrm>
            <a:off x="2326825" y="861450"/>
            <a:ext cx="4979700" cy="3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">
                <a:solidFill>
                  <a:srgbClr val="FF00FF"/>
                </a:solidFill>
                <a:latin typeface="Proxima Nova"/>
                <a:ea typeface="Proxima Nova"/>
                <a:cs typeface="Proxima Nova"/>
                <a:sym typeface="Proxima Nova"/>
              </a:rPr>
              <a:t>Q. </a:t>
            </a:r>
            <a:endParaRPr b="1">
              <a:solidFill>
                <a:srgbClr val="FF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">
                <a:solidFill>
                  <a:srgbClr val="FF00FF"/>
                </a:solidFill>
                <a:latin typeface="Proxima Nova"/>
                <a:ea typeface="Proxima Nova"/>
                <a:cs typeface="Proxima Nova"/>
                <a:sym typeface="Proxima Nova"/>
              </a:rPr>
              <a:t>Where do</a:t>
            </a:r>
            <a:br>
              <a:rPr b="1" lang="en">
                <a:solidFill>
                  <a:srgbClr val="FF00FF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b="1" lang="en">
                <a:solidFill>
                  <a:srgbClr val="FF00FF"/>
                </a:solidFill>
                <a:latin typeface="Proxima Nova"/>
                <a:ea typeface="Proxima Nova"/>
                <a:cs typeface="Proxima Nova"/>
                <a:sym typeface="Proxima Nova"/>
              </a:rPr>
              <a:t>frameworks </a:t>
            </a:r>
            <a:endParaRPr b="1">
              <a:solidFill>
                <a:srgbClr val="FF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">
                <a:solidFill>
                  <a:srgbClr val="FF00FF"/>
                </a:solidFill>
                <a:latin typeface="Proxima Nova"/>
                <a:ea typeface="Proxima Nova"/>
                <a:cs typeface="Proxima Nova"/>
                <a:sym typeface="Proxima Nova"/>
              </a:rPr>
              <a:t>come from?   </a:t>
            </a:r>
            <a:endParaRPr b="1">
              <a:solidFill>
                <a:srgbClr val="FF00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 result for dian fossey" id="222" name="Google Shape;22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803201"/>
            <a:ext cx="9144000" cy="5946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7"/>
          <p:cNvSpPr txBox="1"/>
          <p:nvPr>
            <p:ph type="title"/>
          </p:nvPr>
        </p:nvSpPr>
        <p:spPr>
          <a:xfrm>
            <a:off x="1474700" y="861450"/>
            <a:ext cx="6749100" cy="3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">
                <a:solidFill>
                  <a:srgbClr val="FF00FF"/>
                </a:solidFill>
                <a:latin typeface="Proxima Nova"/>
                <a:ea typeface="Proxima Nova"/>
                <a:cs typeface="Proxima Nova"/>
                <a:sym typeface="Proxima Nova"/>
              </a:rPr>
              <a:t>Q. </a:t>
            </a:r>
            <a:endParaRPr b="1">
              <a:solidFill>
                <a:srgbClr val="FF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">
                <a:solidFill>
                  <a:srgbClr val="FF00FF"/>
                </a:solidFill>
                <a:latin typeface="Proxima Nova"/>
                <a:ea typeface="Proxima Nova"/>
                <a:cs typeface="Proxima Nova"/>
                <a:sym typeface="Proxima Nova"/>
              </a:rPr>
              <a:t>What can they do for me? </a:t>
            </a:r>
            <a:r>
              <a:rPr b="1" lang="en">
                <a:solidFill>
                  <a:srgbClr val="FF00FF"/>
                </a:solidFill>
                <a:latin typeface="Proxima Nova"/>
                <a:ea typeface="Proxima Nova"/>
                <a:cs typeface="Proxima Nova"/>
                <a:sym typeface="Proxima Nova"/>
              </a:rPr>
              <a:t>  </a:t>
            </a:r>
            <a:endParaRPr b="1">
              <a:solidFill>
                <a:srgbClr val="FF00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8"/>
          <p:cNvSpPr txBox="1"/>
          <p:nvPr>
            <p:ph type="ctrTitle"/>
          </p:nvPr>
        </p:nvSpPr>
        <p:spPr>
          <a:xfrm>
            <a:off x="1671350" y="1131925"/>
            <a:ext cx="5445900" cy="26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b="0" i="1" lang="en" sz="2400">
                <a:solidFill>
                  <a:srgbClr val="FF00FF"/>
                </a:solidFill>
              </a:rPr>
              <a:t>Discovery</a:t>
            </a:r>
            <a:endParaRPr b="0" i="1" sz="24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>
                <a:solidFill>
                  <a:srgbClr val="FFFFFF"/>
                </a:solidFill>
              </a:rPr>
              <a:t>Gather a lot of data</a:t>
            </a:r>
            <a:r>
              <a:rPr lang="en">
                <a:solidFill>
                  <a:srgbClr val="FFFFFF"/>
                </a:solidFill>
              </a:rPr>
              <a:t> </a:t>
            </a:r>
            <a:br>
              <a:rPr lang="en">
                <a:solidFill>
                  <a:srgbClr val="FF00FF"/>
                </a:solidFill>
              </a:rPr>
            </a:br>
            <a:endParaRPr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9"/>
          <p:cNvSpPr txBox="1"/>
          <p:nvPr>
            <p:ph type="ctrTitle"/>
          </p:nvPr>
        </p:nvSpPr>
        <p:spPr>
          <a:xfrm>
            <a:off x="1671350" y="1131925"/>
            <a:ext cx="5445900" cy="26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b="0" i="1" lang="en" sz="2400">
                <a:solidFill>
                  <a:srgbClr val="FF00FF"/>
                </a:solidFill>
              </a:rPr>
              <a:t>Evaluative</a:t>
            </a:r>
            <a:endParaRPr b="0" i="1" sz="24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>
                <a:solidFill>
                  <a:srgbClr val="FFFFFF"/>
                </a:solidFill>
              </a:rPr>
              <a:t>Diagnose + Define “Good”</a:t>
            </a:r>
            <a:br>
              <a:rPr lang="en">
                <a:solidFill>
                  <a:srgbClr val="FF00FF"/>
                </a:solidFill>
              </a:rPr>
            </a:br>
            <a:endParaRPr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50"/>
          <p:cNvSpPr txBox="1"/>
          <p:nvPr>
            <p:ph type="ctrTitle"/>
          </p:nvPr>
        </p:nvSpPr>
        <p:spPr>
          <a:xfrm>
            <a:off x="354175" y="321000"/>
            <a:ext cx="7077900" cy="42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1200">
                <a:solidFill>
                  <a:srgbClr val="FF00FF"/>
                </a:solidFill>
              </a:rPr>
              <a:t>POEMS</a:t>
            </a:r>
            <a:endParaRPr sz="12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i="1" lang="en" sz="1200">
                <a:solidFill>
                  <a:srgbClr val="FF00FF"/>
                </a:solidFill>
              </a:rPr>
              <a:t>Overall/Unknown</a:t>
            </a:r>
            <a:endParaRPr i="1" sz="12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sz="24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2400">
                <a:solidFill>
                  <a:srgbClr val="F3F3F3"/>
                </a:solidFill>
              </a:rPr>
              <a:t>People</a:t>
            </a:r>
            <a:endParaRPr sz="2400">
              <a:solidFill>
                <a:srgbClr val="F3F3F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2400">
                <a:solidFill>
                  <a:srgbClr val="F3F3F3"/>
                </a:solidFill>
              </a:rPr>
              <a:t>Objects</a:t>
            </a:r>
            <a:endParaRPr sz="2400">
              <a:solidFill>
                <a:srgbClr val="F3F3F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2400">
                <a:solidFill>
                  <a:srgbClr val="F3F3F3"/>
                </a:solidFill>
              </a:rPr>
              <a:t>Environments</a:t>
            </a:r>
            <a:endParaRPr sz="2400">
              <a:solidFill>
                <a:srgbClr val="F3F3F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2400">
                <a:solidFill>
                  <a:srgbClr val="F3F3F3"/>
                </a:solidFill>
              </a:rPr>
              <a:t>Messages</a:t>
            </a:r>
            <a:endParaRPr sz="2400">
              <a:solidFill>
                <a:srgbClr val="F3F3F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2400">
                <a:solidFill>
                  <a:srgbClr val="F3F3F3"/>
                </a:solidFill>
              </a:rPr>
              <a:t>Services/Systems </a:t>
            </a:r>
            <a:endParaRPr sz="2400">
              <a:solidFill>
                <a:srgbClr val="F3F3F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sz="2400">
              <a:solidFill>
                <a:srgbClr val="F3F3F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sz="24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sz="2400">
              <a:solidFill>
                <a:srgbClr val="FF00FF"/>
              </a:solidFill>
            </a:endParaRPr>
          </a:p>
        </p:txBody>
      </p:sp>
      <p:sp>
        <p:nvSpPr>
          <p:cNvPr id="243" name="Google Shape;243;p50"/>
          <p:cNvSpPr txBox="1"/>
          <p:nvPr>
            <p:ph type="ctrTitle"/>
          </p:nvPr>
        </p:nvSpPr>
        <p:spPr>
          <a:xfrm>
            <a:off x="333175" y="3662600"/>
            <a:ext cx="1593000" cy="11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1200">
                <a:solidFill>
                  <a:srgbClr val="FFFFFF"/>
                </a:solidFill>
              </a:rPr>
              <a:t>Inventory Existing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44" name="Google Shape;244;p50"/>
          <p:cNvSpPr txBox="1"/>
          <p:nvPr>
            <p:ph type="ctrTitle"/>
          </p:nvPr>
        </p:nvSpPr>
        <p:spPr>
          <a:xfrm>
            <a:off x="2463800" y="3620450"/>
            <a:ext cx="1802100" cy="12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1200">
                <a:solidFill>
                  <a:srgbClr val="FFFFFF"/>
                </a:solidFill>
              </a:rPr>
              <a:t>Write Questions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45" name="Google Shape;245;p50"/>
          <p:cNvSpPr txBox="1"/>
          <p:nvPr>
            <p:ph type="ctrTitle"/>
          </p:nvPr>
        </p:nvSpPr>
        <p:spPr>
          <a:xfrm>
            <a:off x="4724800" y="3620450"/>
            <a:ext cx="1802100" cy="12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1200">
                <a:solidFill>
                  <a:srgbClr val="FFFFFF"/>
                </a:solidFill>
              </a:rPr>
              <a:t>Take Notes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46" name="Google Shape;246;p50"/>
          <p:cNvSpPr txBox="1"/>
          <p:nvPr>
            <p:ph type="ctrTitle"/>
          </p:nvPr>
        </p:nvSpPr>
        <p:spPr>
          <a:xfrm>
            <a:off x="6739950" y="3620450"/>
            <a:ext cx="1802100" cy="12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1200">
                <a:solidFill>
                  <a:srgbClr val="FFFFFF"/>
                </a:solidFill>
              </a:rPr>
              <a:t>Analyze Results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247" name="Google Shape;247;p50"/>
          <p:cNvCxnSpPr/>
          <p:nvPr/>
        </p:nvCxnSpPr>
        <p:spPr>
          <a:xfrm flipH="1" rot="10800000">
            <a:off x="372625" y="4685375"/>
            <a:ext cx="8340000" cy="51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" name="Google Shape;248;p50"/>
          <p:cNvCxnSpPr/>
          <p:nvPr/>
        </p:nvCxnSpPr>
        <p:spPr>
          <a:xfrm flipH="1" rot="10800000">
            <a:off x="411575" y="3761000"/>
            <a:ext cx="8268900" cy="9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51"/>
          <p:cNvSpPr txBox="1"/>
          <p:nvPr>
            <p:ph type="ctrTitle"/>
          </p:nvPr>
        </p:nvSpPr>
        <p:spPr>
          <a:xfrm>
            <a:off x="354175" y="321000"/>
            <a:ext cx="7077900" cy="42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2400">
                <a:solidFill>
                  <a:srgbClr val="FF00FF"/>
                </a:solidFill>
              </a:rPr>
              <a:t>POEMS</a:t>
            </a:r>
            <a:endParaRPr sz="24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i="1" lang="en" sz="2400">
                <a:solidFill>
                  <a:srgbClr val="FF00FF"/>
                </a:solidFill>
              </a:rPr>
              <a:t>Overall/Unknown</a:t>
            </a:r>
            <a:endParaRPr i="1" sz="24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sz="24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sz="24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2400">
                <a:solidFill>
                  <a:srgbClr val="F3F3F3"/>
                </a:solidFill>
              </a:rPr>
              <a:t>People</a:t>
            </a:r>
            <a:endParaRPr sz="2400">
              <a:solidFill>
                <a:srgbClr val="F3F3F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2400">
                <a:solidFill>
                  <a:srgbClr val="F3F3F3"/>
                </a:solidFill>
              </a:rPr>
              <a:t>Objects</a:t>
            </a:r>
            <a:endParaRPr sz="2400">
              <a:solidFill>
                <a:srgbClr val="F3F3F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2400">
                <a:solidFill>
                  <a:srgbClr val="F3F3F3"/>
                </a:solidFill>
              </a:rPr>
              <a:t>Environments</a:t>
            </a:r>
            <a:endParaRPr sz="2400">
              <a:solidFill>
                <a:srgbClr val="F3F3F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2400">
                <a:solidFill>
                  <a:srgbClr val="F3F3F3"/>
                </a:solidFill>
              </a:rPr>
              <a:t>Messages</a:t>
            </a:r>
            <a:endParaRPr sz="2400">
              <a:solidFill>
                <a:srgbClr val="F3F3F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2400">
                <a:solidFill>
                  <a:srgbClr val="F3F3F3"/>
                </a:solidFill>
              </a:rPr>
              <a:t>Services/Systems </a:t>
            </a:r>
            <a:endParaRPr sz="2400">
              <a:solidFill>
                <a:srgbClr val="F3F3F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sz="2400">
              <a:solidFill>
                <a:srgbClr val="F3F3F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sz="24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sz="2400">
              <a:solidFill>
                <a:srgbClr val="FF00FF"/>
              </a:solidFill>
            </a:endParaRPr>
          </a:p>
        </p:txBody>
      </p:sp>
      <p:pic>
        <p:nvPicPr>
          <p:cNvPr descr="Related image" id="254" name="Google Shape;25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78875" y="-2679125"/>
            <a:ext cx="9822875" cy="982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52"/>
          <p:cNvSpPr txBox="1"/>
          <p:nvPr>
            <p:ph type="ctrTitle"/>
          </p:nvPr>
        </p:nvSpPr>
        <p:spPr>
          <a:xfrm>
            <a:off x="354175" y="321000"/>
            <a:ext cx="7077900" cy="42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1200">
                <a:solidFill>
                  <a:srgbClr val="FF00FF"/>
                </a:solidFill>
              </a:rPr>
              <a:t>5Es</a:t>
            </a:r>
            <a:endParaRPr sz="12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i="1" lang="en" sz="1200">
                <a:solidFill>
                  <a:srgbClr val="FF00FF"/>
                </a:solidFill>
              </a:rPr>
              <a:t>Process</a:t>
            </a:r>
            <a:endParaRPr i="1" sz="12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sz="24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2400">
                <a:solidFill>
                  <a:srgbClr val="F3F3F3"/>
                </a:solidFill>
              </a:rPr>
              <a:t>Entice</a:t>
            </a:r>
            <a:endParaRPr sz="2400">
              <a:solidFill>
                <a:srgbClr val="F3F3F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2400">
                <a:solidFill>
                  <a:srgbClr val="F3F3F3"/>
                </a:solidFill>
              </a:rPr>
              <a:t>Enter</a:t>
            </a:r>
            <a:endParaRPr sz="2400">
              <a:solidFill>
                <a:srgbClr val="F3F3F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2400">
                <a:solidFill>
                  <a:srgbClr val="F3F3F3"/>
                </a:solidFill>
              </a:rPr>
              <a:t>Engage</a:t>
            </a:r>
            <a:endParaRPr sz="2400">
              <a:solidFill>
                <a:srgbClr val="F3F3F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2400">
                <a:solidFill>
                  <a:srgbClr val="F3F3F3"/>
                </a:solidFill>
              </a:rPr>
              <a:t>Exit</a:t>
            </a:r>
            <a:endParaRPr sz="2400">
              <a:solidFill>
                <a:srgbClr val="F3F3F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2400">
                <a:solidFill>
                  <a:srgbClr val="F3F3F3"/>
                </a:solidFill>
              </a:rPr>
              <a:t>Extend</a:t>
            </a:r>
            <a:endParaRPr sz="2400">
              <a:solidFill>
                <a:srgbClr val="F3F3F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sz="2400">
              <a:solidFill>
                <a:srgbClr val="F3F3F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sz="24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sz="2400">
              <a:solidFill>
                <a:srgbClr val="FF00FF"/>
              </a:solidFill>
            </a:endParaRPr>
          </a:p>
        </p:txBody>
      </p:sp>
      <p:sp>
        <p:nvSpPr>
          <p:cNvPr id="260" name="Google Shape;260;p52"/>
          <p:cNvSpPr txBox="1"/>
          <p:nvPr>
            <p:ph type="ctrTitle"/>
          </p:nvPr>
        </p:nvSpPr>
        <p:spPr>
          <a:xfrm>
            <a:off x="333175" y="3662600"/>
            <a:ext cx="1593000" cy="11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1200">
                <a:solidFill>
                  <a:srgbClr val="FFFFFF"/>
                </a:solidFill>
              </a:rPr>
              <a:t>Inventory Existing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61" name="Google Shape;261;p52"/>
          <p:cNvSpPr txBox="1"/>
          <p:nvPr>
            <p:ph type="ctrTitle"/>
          </p:nvPr>
        </p:nvSpPr>
        <p:spPr>
          <a:xfrm>
            <a:off x="2463800" y="3620450"/>
            <a:ext cx="1802100" cy="12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1200">
                <a:solidFill>
                  <a:srgbClr val="FFFFFF"/>
                </a:solidFill>
              </a:rPr>
              <a:t>Write Questions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62" name="Google Shape;262;p52"/>
          <p:cNvSpPr txBox="1"/>
          <p:nvPr>
            <p:ph type="ctrTitle"/>
          </p:nvPr>
        </p:nvSpPr>
        <p:spPr>
          <a:xfrm>
            <a:off x="4724800" y="3620450"/>
            <a:ext cx="1802100" cy="12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1200">
                <a:solidFill>
                  <a:srgbClr val="FFFFFF"/>
                </a:solidFill>
              </a:rPr>
              <a:t>Take Notes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63" name="Google Shape;263;p52"/>
          <p:cNvSpPr txBox="1"/>
          <p:nvPr>
            <p:ph type="ctrTitle"/>
          </p:nvPr>
        </p:nvSpPr>
        <p:spPr>
          <a:xfrm>
            <a:off x="6739950" y="3620450"/>
            <a:ext cx="1802100" cy="12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1200">
                <a:solidFill>
                  <a:srgbClr val="FFFFFF"/>
                </a:solidFill>
              </a:rPr>
              <a:t>Analyze Results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264" name="Google Shape;264;p52"/>
          <p:cNvCxnSpPr/>
          <p:nvPr/>
        </p:nvCxnSpPr>
        <p:spPr>
          <a:xfrm flipH="1" rot="10800000">
            <a:off x="372625" y="4685375"/>
            <a:ext cx="8340000" cy="51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52"/>
          <p:cNvCxnSpPr/>
          <p:nvPr/>
        </p:nvCxnSpPr>
        <p:spPr>
          <a:xfrm flipH="1" rot="10800000">
            <a:off x="411575" y="3761000"/>
            <a:ext cx="8268900" cy="9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3"/>
          <p:cNvSpPr txBox="1"/>
          <p:nvPr>
            <p:ph type="ctrTitle"/>
          </p:nvPr>
        </p:nvSpPr>
        <p:spPr>
          <a:xfrm>
            <a:off x="354175" y="321000"/>
            <a:ext cx="7077900" cy="42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1200">
                <a:solidFill>
                  <a:srgbClr val="FF00FF"/>
                </a:solidFill>
              </a:rPr>
              <a:t>5Es</a:t>
            </a:r>
            <a:endParaRPr sz="12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i="1" lang="en" sz="1200">
                <a:solidFill>
                  <a:srgbClr val="FF00FF"/>
                </a:solidFill>
              </a:rPr>
              <a:t>Process</a:t>
            </a:r>
            <a:endParaRPr i="1" sz="12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sz="24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2400">
                <a:solidFill>
                  <a:srgbClr val="F3F3F3"/>
                </a:solidFill>
              </a:rPr>
              <a:t>Entice</a:t>
            </a:r>
            <a:endParaRPr sz="2400">
              <a:solidFill>
                <a:srgbClr val="F3F3F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2400">
                <a:solidFill>
                  <a:srgbClr val="F3F3F3"/>
                </a:solidFill>
              </a:rPr>
              <a:t>Enter</a:t>
            </a:r>
            <a:endParaRPr sz="2400">
              <a:solidFill>
                <a:srgbClr val="F3F3F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2400">
                <a:solidFill>
                  <a:srgbClr val="F3F3F3"/>
                </a:solidFill>
              </a:rPr>
              <a:t>Engage</a:t>
            </a:r>
            <a:endParaRPr sz="2400">
              <a:solidFill>
                <a:srgbClr val="F3F3F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2400">
                <a:solidFill>
                  <a:srgbClr val="F3F3F3"/>
                </a:solidFill>
              </a:rPr>
              <a:t>Exit</a:t>
            </a:r>
            <a:endParaRPr sz="2400">
              <a:solidFill>
                <a:srgbClr val="F3F3F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2400">
                <a:solidFill>
                  <a:srgbClr val="F3F3F3"/>
                </a:solidFill>
              </a:rPr>
              <a:t>Extend</a:t>
            </a:r>
            <a:endParaRPr sz="2400">
              <a:solidFill>
                <a:srgbClr val="F3F3F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sz="2400">
              <a:solidFill>
                <a:srgbClr val="F3F3F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sz="24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sz="2400">
              <a:solidFill>
                <a:srgbClr val="FF00FF"/>
              </a:solidFill>
            </a:endParaRPr>
          </a:p>
        </p:txBody>
      </p:sp>
      <p:sp>
        <p:nvSpPr>
          <p:cNvPr id="271" name="Google Shape;271;p53"/>
          <p:cNvSpPr txBox="1"/>
          <p:nvPr>
            <p:ph type="ctrTitle"/>
          </p:nvPr>
        </p:nvSpPr>
        <p:spPr>
          <a:xfrm>
            <a:off x="333175" y="3662600"/>
            <a:ext cx="1593000" cy="11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1200">
                <a:solidFill>
                  <a:srgbClr val="FFFFFF"/>
                </a:solidFill>
              </a:rPr>
              <a:t>Inventory Existing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72" name="Google Shape;272;p53"/>
          <p:cNvSpPr txBox="1"/>
          <p:nvPr>
            <p:ph type="ctrTitle"/>
          </p:nvPr>
        </p:nvSpPr>
        <p:spPr>
          <a:xfrm>
            <a:off x="2463800" y="3620450"/>
            <a:ext cx="1802100" cy="12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1200">
                <a:solidFill>
                  <a:srgbClr val="FFFFFF"/>
                </a:solidFill>
              </a:rPr>
              <a:t>Write Questions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73" name="Google Shape;273;p53"/>
          <p:cNvSpPr txBox="1"/>
          <p:nvPr>
            <p:ph type="ctrTitle"/>
          </p:nvPr>
        </p:nvSpPr>
        <p:spPr>
          <a:xfrm>
            <a:off x="4724800" y="3620450"/>
            <a:ext cx="1802100" cy="12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1200">
                <a:solidFill>
                  <a:srgbClr val="FFFFFF"/>
                </a:solidFill>
              </a:rPr>
              <a:t>Take Notes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74" name="Google Shape;274;p53"/>
          <p:cNvSpPr txBox="1"/>
          <p:nvPr>
            <p:ph type="ctrTitle"/>
          </p:nvPr>
        </p:nvSpPr>
        <p:spPr>
          <a:xfrm>
            <a:off x="6739950" y="3620450"/>
            <a:ext cx="1802100" cy="12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1200">
                <a:solidFill>
                  <a:srgbClr val="FFFFFF"/>
                </a:solidFill>
              </a:rPr>
              <a:t>Analyze Results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275" name="Google Shape;275;p53"/>
          <p:cNvCxnSpPr/>
          <p:nvPr/>
        </p:nvCxnSpPr>
        <p:spPr>
          <a:xfrm flipH="1" rot="10800000">
            <a:off x="372625" y="4685375"/>
            <a:ext cx="8340000" cy="51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" name="Google Shape;276;p53"/>
          <p:cNvCxnSpPr/>
          <p:nvPr/>
        </p:nvCxnSpPr>
        <p:spPr>
          <a:xfrm flipH="1" rot="10800000">
            <a:off x="411575" y="3761000"/>
            <a:ext cx="8268900" cy="9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Image result for kid brushing teeth" id="277" name="Google Shape;277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9375" y="-478362"/>
            <a:ext cx="9144000" cy="6100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4"/>
          <p:cNvSpPr txBox="1"/>
          <p:nvPr>
            <p:ph type="ctrTitle"/>
          </p:nvPr>
        </p:nvSpPr>
        <p:spPr>
          <a:xfrm>
            <a:off x="354175" y="321000"/>
            <a:ext cx="7077900" cy="42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1200">
                <a:solidFill>
                  <a:srgbClr val="FF00FF"/>
                </a:solidFill>
              </a:rPr>
              <a:t>Human Factors</a:t>
            </a:r>
            <a:endParaRPr sz="12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i="1" lang="en" sz="1200">
                <a:solidFill>
                  <a:srgbClr val="FF00FF"/>
                </a:solidFill>
              </a:rPr>
              <a:t>Did we design for the full human?</a:t>
            </a:r>
            <a:endParaRPr i="1" sz="12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sz="24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2400">
                <a:solidFill>
                  <a:srgbClr val="F3F3F3"/>
                </a:solidFill>
              </a:rPr>
              <a:t>Cognitive</a:t>
            </a:r>
            <a:endParaRPr sz="2400">
              <a:solidFill>
                <a:srgbClr val="F3F3F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2400">
                <a:solidFill>
                  <a:srgbClr val="F3F3F3"/>
                </a:solidFill>
              </a:rPr>
              <a:t>Social</a:t>
            </a:r>
            <a:endParaRPr sz="2400">
              <a:solidFill>
                <a:srgbClr val="F3F3F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2400">
                <a:solidFill>
                  <a:srgbClr val="F3F3F3"/>
                </a:solidFill>
              </a:rPr>
              <a:t>Cultural</a:t>
            </a:r>
            <a:endParaRPr sz="2400">
              <a:solidFill>
                <a:srgbClr val="F3F3F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2400">
                <a:solidFill>
                  <a:srgbClr val="F3F3F3"/>
                </a:solidFill>
              </a:rPr>
              <a:t>Physical </a:t>
            </a:r>
            <a:endParaRPr sz="2400">
              <a:solidFill>
                <a:srgbClr val="F3F3F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2400">
                <a:solidFill>
                  <a:srgbClr val="F3F3F3"/>
                </a:solidFill>
              </a:rPr>
              <a:t>Emotional</a:t>
            </a:r>
            <a:endParaRPr sz="2400">
              <a:solidFill>
                <a:srgbClr val="F3F3F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sz="2400">
              <a:solidFill>
                <a:srgbClr val="F3F3F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sz="24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sz="2400">
              <a:solidFill>
                <a:srgbClr val="FF00FF"/>
              </a:solidFill>
            </a:endParaRPr>
          </a:p>
        </p:txBody>
      </p:sp>
      <p:sp>
        <p:nvSpPr>
          <p:cNvPr id="283" name="Google Shape;283;p54"/>
          <p:cNvSpPr txBox="1"/>
          <p:nvPr>
            <p:ph type="ctrTitle"/>
          </p:nvPr>
        </p:nvSpPr>
        <p:spPr>
          <a:xfrm>
            <a:off x="333175" y="3662600"/>
            <a:ext cx="1593000" cy="11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1200">
                <a:solidFill>
                  <a:srgbClr val="FFFFFF"/>
                </a:solidFill>
              </a:rPr>
              <a:t>Inventory Existing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84" name="Google Shape;284;p54"/>
          <p:cNvSpPr txBox="1"/>
          <p:nvPr>
            <p:ph type="ctrTitle"/>
          </p:nvPr>
        </p:nvSpPr>
        <p:spPr>
          <a:xfrm>
            <a:off x="2463800" y="3620450"/>
            <a:ext cx="1802100" cy="12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1200">
                <a:solidFill>
                  <a:srgbClr val="FFFFFF"/>
                </a:solidFill>
              </a:rPr>
              <a:t>Write Questions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85" name="Google Shape;285;p54"/>
          <p:cNvSpPr txBox="1"/>
          <p:nvPr>
            <p:ph type="ctrTitle"/>
          </p:nvPr>
        </p:nvSpPr>
        <p:spPr>
          <a:xfrm>
            <a:off x="4724800" y="3620450"/>
            <a:ext cx="1802100" cy="12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1200">
                <a:solidFill>
                  <a:srgbClr val="FFFFFF"/>
                </a:solidFill>
              </a:rPr>
              <a:t>Take Notes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86" name="Google Shape;286;p54"/>
          <p:cNvSpPr txBox="1"/>
          <p:nvPr>
            <p:ph type="ctrTitle"/>
          </p:nvPr>
        </p:nvSpPr>
        <p:spPr>
          <a:xfrm>
            <a:off x="6739950" y="3620450"/>
            <a:ext cx="1802100" cy="12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1200">
                <a:solidFill>
                  <a:srgbClr val="FFFFFF"/>
                </a:solidFill>
              </a:rPr>
              <a:t>Analyze Results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287" name="Google Shape;287;p54"/>
          <p:cNvCxnSpPr/>
          <p:nvPr/>
        </p:nvCxnSpPr>
        <p:spPr>
          <a:xfrm flipH="1" rot="10800000">
            <a:off x="372625" y="4685375"/>
            <a:ext cx="8340000" cy="51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" name="Google Shape;288;p54"/>
          <p:cNvCxnSpPr/>
          <p:nvPr/>
        </p:nvCxnSpPr>
        <p:spPr>
          <a:xfrm flipH="1" rot="10800000">
            <a:off x="411575" y="3761000"/>
            <a:ext cx="8268900" cy="9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5"/>
          <p:cNvSpPr txBox="1"/>
          <p:nvPr>
            <p:ph type="ctrTitle"/>
          </p:nvPr>
        </p:nvSpPr>
        <p:spPr>
          <a:xfrm>
            <a:off x="274050" y="1686375"/>
            <a:ext cx="1593000" cy="11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2400">
                <a:solidFill>
                  <a:srgbClr val="FF00FF"/>
                </a:solidFill>
              </a:rPr>
              <a:t>Inventory</a:t>
            </a:r>
            <a:br>
              <a:rPr lang="en" sz="2400">
                <a:solidFill>
                  <a:srgbClr val="FF00FF"/>
                </a:solidFill>
              </a:rPr>
            </a:br>
            <a:r>
              <a:rPr lang="en" sz="2400">
                <a:solidFill>
                  <a:srgbClr val="FF00FF"/>
                </a:solidFill>
              </a:rPr>
              <a:t>Existing</a:t>
            </a:r>
            <a:endParaRPr sz="2400">
              <a:solidFill>
                <a:srgbClr val="FF00FF"/>
              </a:solidFill>
            </a:endParaRPr>
          </a:p>
        </p:txBody>
      </p:sp>
      <p:sp>
        <p:nvSpPr>
          <p:cNvPr id="294" name="Google Shape;294;p55"/>
          <p:cNvSpPr txBox="1"/>
          <p:nvPr>
            <p:ph type="ctrTitle"/>
          </p:nvPr>
        </p:nvSpPr>
        <p:spPr>
          <a:xfrm>
            <a:off x="2148975" y="1782750"/>
            <a:ext cx="1802100" cy="12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2400">
                <a:solidFill>
                  <a:srgbClr val="FF00FF"/>
                </a:solidFill>
              </a:rPr>
              <a:t>Write Research Questions</a:t>
            </a:r>
            <a:endParaRPr sz="2400">
              <a:solidFill>
                <a:srgbClr val="FF00FF"/>
              </a:solidFill>
            </a:endParaRPr>
          </a:p>
        </p:txBody>
      </p:sp>
      <p:sp>
        <p:nvSpPr>
          <p:cNvPr id="295" name="Google Shape;295;p55"/>
          <p:cNvSpPr txBox="1"/>
          <p:nvPr>
            <p:ph type="ctrTitle"/>
          </p:nvPr>
        </p:nvSpPr>
        <p:spPr>
          <a:xfrm>
            <a:off x="4168450" y="1842975"/>
            <a:ext cx="1802100" cy="12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2400">
                <a:solidFill>
                  <a:srgbClr val="FF00FF"/>
                </a:solidFill>
              </a:rPr>
              <a:t>Take Notes</a:t>
            </a:r>
            <a:endParaRPr sz="2400">
              <a:solidFill>
                <a:srgbClr val="FF00FF"/>
              </a:solidFill>
            </a:endParaRPr>
          </a:p>
        </p:txBody>
      </p:sp>
      <p:sp>
        <p:nvSpPr>
          <p:cNvPr id="296" name="Google Shape;296;p55"/>
          <p:cNvSpPr txBox="1"/>
          <p:nvPr>
            <p:ph type="ctrTitle"/>
          </p:nvPr>
        </p:nvSpPr>
        <p:spPr>
          <a:xfrm>
            <a:off x="6729975" y="1782750"/>
            <a:ext cx="1802100" cy="12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2400">
                <a:solidFill>
                  <a:srgbClr val="FF00FF"/>
                </a:solidFill>
              </a:rPr>
              <a:t>Analyze Results</a:t>
            </a:r>
            <a:endParaRPr sz="2400">
              <a:solidFill>
                <a:srgbClr val="FF00FF"/>
              </a:solidFill>
            </a:endParaRPr>
          </a:p>
        </p:txBody>
      </p:sp>
      <p:sp>
        <p:nvSpPr>
          <p:cNvPr id="297" name="Google Shape;297;p55"/>
          <p:cNvSpPr txBox="1"/>
          <p:nvPr>
            <p:ph type="ctrTitle"/>
          </p:nvPr>
        </p:nvSpPr>
        <p:spPr>
          <a:xfrm>
            <a:off x="354175" y="321000"/>
            <a:ext cx="5825400" cy="13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2400">
                <a:solidFill>
                  <a:srgbClr val="FF00FF"/>
                </a:solidFill>
              </a:rPr>
              <a:t>4As - </a:t>
            </a:r>
            <a:endParaRPr sz="24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2400">
                <a:solidFill>
                  <a:srgbClr val="FF00FF"/>
                </a:solidFill>
              </a:rPr>
              <a:t>Who are these people, really?</a:t>
            </a:r>
            <a:endParaRPr sz="24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2400">
                <a:solidFill>
                  <a:srgbClr val="FF00FF"/>
                </a:solidFill>
              </a:rPr>
              <a:t>What do they care about? </a:t>
            </a:r>
            <a:endParaRPr sz="2400">
              <a:solidFill>
                <a:srgbClr val="FF00FF"/>
              </a:solidFill>
            </a:endParaRPr>
          </a:p>
        </p:txBody>
      </p:sp>
      <p:pic>
        <p:nvPicPr>
          <p:cNvPr descr="Image result for chicago el ipod ad" id="298" name="Google Shape;298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717925"/>
            <a:ext cx="9779974" cy="733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6"/>
          <p:cNvSpPr txBox="1"/>
          <p:nvPr>
            <p:ph type="ctrTitle"/>
          </p:nvPr>
        </p:nvSpPr>
        <p:spPr>
          <a:xfrm>
            <a:off x="354175" y="321000"/>
            <a:ext cx="7077900" cy="42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1200">
                <a:solidFill>
                  <a:srgbClr val="FF00FF"/>
                </a:solidFill>
              </a:rPr>
              <a:t>4As</a:t>
            </a:r>
            <a:endParaRPr sz="12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i="1" lang="en" sz="1200">
                <a:solidFill>
                  <a:srgbClr val="FF00FF"/>
                </a:solidFill>
              </a:rPr>
              <a:t>What do we know about what people really want?</a:t>
            </a:r>
            <a:endParaRPr i="1" sz="12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sz="24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2400">
                <a:solidFill>
                  <a:srgbClr val="F3F3F3"/>
                </a:solidFill>
              </a:rPr>
              <a:t>Ambitions</a:t>
            </a:r>
            <a:endParaRPr sz="2400">
              <a:solidFill>
                <a:srgbClr val="F3F3F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2400">
                <a:solidFill>
                  <a:srgbClr val="F3F3F3"/>
                </a:solidFill>
              </a:rPr>
              <a:t>Anxieties</a:t>
            </a:r>
            <a:endParaRPr sz="2400">
              <a:solidFill>
                <a:srgbClr val="F3F3F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2400">
                <a:solidFill>
                  <a:srgbClr val="F3F3F3"/>
                </a:solidFill>
              </a:rPr>
              <a:t>Attitudes</a:t>
            </a:r>
            <a:endParaRPr sz="2400">
              <a:solidFill>
                <a:srgbClr val="F3F3F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2400">
                <a:solidFill>
                  <a:srgbClr val="F3F3F3"/>
                </a:solidFill>
              </a:rPr>
              <a:t>Actions</a:t>
            </a:r>
            <a:endParaRPr sz="2400">
              <a:solidFill>
                <a:srgbClr val="F3F3F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sz="2400">
              <a:solidFill>
                <a:srgbClr val="F3F3F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sz="24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sz="2400">
              <a:solidFill>
                <a:srgbClr val="FF00FF"/>
              </a:solidFill>
            </a:endParaRPr>
          </a:p>
        </p:txBody>
      </p:sp>
      <p:sp>
        <p:nvSpPr>
          <p:cNvPr id="304" name="Google Shape;304;p56"/>
          <p:cNvSpPr txBox="1"/>
          <p:nvPr>
            <p:ph type="ctrTitle"/>
          </p:nvPr>
        </p:nvSpPr>
        <p:spPr>
          <a:xfrm>
            <a:off x="333175" y="3662600"/>
            <a:ext cx="1593000" cy="11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1200">
                <a:solidFill>
                  <a:srgbClr val="FFFFFF"/>
                </a:solidFill>
              </a:rPr>
              <a:t>Inventory Existing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305" name="Google Shape;305;p56"/>
          <p:cNvSpPr txBox="1"/>
          <p:nvPr>
            <p:ph type="ctrTitle"/>
          </p:nvPr>
        </p:nvSpPr>
        <p:spPr>
          <a:xfrm>
            <a:off x="2463800" y="3620450"/>
            <a:ext cx="1802100" cy="12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1200">
                <a:solidFill>
                  <a:srgbClr val="FFFFFF"/>
                </a:solidFill>
              </a:rPr>
              <a:t>Write Questions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306" name="Google Shape;306;p56"/>
          <p:cNvSpPr txBox="1"/>
          <p:nvPr>
            <p:ph type="ctrTitle"/>
          </p:nvPr>
        </p:nvSpPr>
        <p:spPr>
          <a:xfrm>
            <a:off x="4724800" y="3620450"/>
            <a:ext cx="1802100" cy="12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1200">
                <a:solidFill>
                  <a:srgbClr val="FFFFFF"/>
                </a:solidFill>
              </a:rPr>
              <a:t>Take Notes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307" name="Google Shape;307;p56"/>
          <p:cNvSpPr txBox="1"/>
          <p:nvPr>
            <p:ph type="ctrTitle"/>
          </p:nvPr>
        </p:nvSpPr>
        <p:spPr>
          <a:xfrm>
            <a:off x="6739950" y="3620450"/>
            <a:ext cx="1802100" cy="12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1200">
                <a:solidFill>
                  <a:srgbClr val="FFFFFF"/>
                </a:solidFill>
              </a:rPr>
              <a:t>Analyze Results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308" name="Google Shape;308;p56"/>
          <p:cNvCxnSpPr/>
          <p:nvPr/>
        </p:nvCxnSpPr>
        <p:spPr>
          <a:xfrm flipH="1" rot="10800000">
            <a:off x="372625" y="4685375"/>
            <a:ext cx="8340000" cy="51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" name="Google Shape;309;p56"/>
          <p:cNvCxnSpPr/>
          <p:nvPr/>
        </p:nvCxnSpPr>
        <p:spPr>
          <a:xfrm flipH="1" rot="10800000">
            <a:off x="411575" y="3761000"/>
            <a:ext cx="8268900" cy="9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7"/>
          <p:cNvSpPr txBox="1"/>
          <p:nvPr/>
        </p:nvSpPr>
        <p:spPr>
          <a:xfrm>
            <a:off x="318550" y="814675"/>
            <a:ext cx="16260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FF00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15" name="Google Shape;315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875" y="0"/>
            <a:ext cx="6852274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8"/>
          <p:cNvSpPr txBox="1"/>
          <p:nvPr>
            <p:ph type="title"/>
          </p:nvPr>
        </p:nvSpPr>
        <p:spPr>
          <a:xfrm>
            <a:off x="256200" y="1916000"/>
            <a:ext cx="8631600" cy="38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>
                <a:solidFill>
                  <a:srgbClr val="FF00FF"/>
                </a:solidFill>
              </a:rPr>
              <a:t>Thanks! </a:t>
            </a:r>
            <a:endParaRPr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Questions?  </a:t>
            </a:r>
            <a:br>
              <a:rPr lang="en"/>
            </a:b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